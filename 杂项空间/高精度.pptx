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9" r:id="rId4"/>
    <p:sldId id="258" r:id="rId5"/>
    <p:sldId id="264" r:id="rId6"/>
    <p:sldId id="259" r:id="rId7"/>
    <p:sldId id="260" r:id="rId8"/>
    <p:sldId id="261" r:id="rId9"/>
    <p:sldId id="270" r:id="rId10"/>
    <p:sldId id="263" r:id="rId11"/>
    <p:sldId id="267" r:id="rId12"/>
    <p:sldId id="271" r:id="rId13"/>
    <p:sldId id="262" r:id="rId14"/>
    <p:sldId id="266" r:id="rId15"/>
    <p:sldId id="274" r:id="rId16"/>
    <p:sldId id="276" r:id="rId17"/>
    <p:sldId id="277" r:id="rId18"/>
    <p:sldId id="281" r:id="rId19"/>
    <p:sldId id="273" r:id="rId20"/>
    <p:sldId id="269" r:id="rId21"/>
    <p:sldId id="278" r:id="rId22"/>
    <p:sldId id="275" r:id="rId23"/>
    <p:sldId id="268" r:id="rId24"/>
    <p:sldId id="280" r:id="rId25"/>
    <p:sldId id="272" r:id="rId26"/>
  </p:sldIdLst>
  <p:sldSz cx="12192000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-102" y="-22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FEDD21-BAA6-4C67-B49B-ADC3A198AC7A}" type="datetimeFigureOut">
              <a:rPr lang="zh-CN" altLang="en-US"/>
              <a:pPr>
                <a:defRPr/>
              </a:pPr>
              <a:t>2019/6/18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442FBB-A0C8-4458-8F21-B061441644F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EBAC0E-9557-459D-AA03-B271D6AB5225}" type="datetimeFigureOut">
              <a:rPr lang="zh-CN" altLang="en-US"/>
              <a:pPr>
                <a:defRPr/>
              </a:pPr>
              <a:t>2019/6/18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E4475F-BE3F-455E-8965-1FA559EB8C4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BF48C5-4C62-47F9-A89D-17F383E39899}" type="datetimeFigureOut">
              <a:rPr lang="zh-CN" altLang="en-US"/>
              <a:pPr>
                <a:defRPr/>
              </a:pPr>
              <a:t>2019/6/18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55FDAB-E302-48A1-BCBE-A4285AB190C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809537-9350-4F17-A6D3-4C579E1C890E}" type="datetimeFigureOut">
              <a:rPr lang="zh-CN" altLang="en-US"/>
              <a:pPr>
                <a:defRPr/>
              </a:pPr>
              <a:t>2019/6/18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E9569D-891D-40F1-A2C2-DB23A754CFB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860D12-8482-49EE-9986-58FDE84AA768}" type="datetimeFigureOut">
              <a:rPr lang="zh-CN" altLang="en-US"/>
              <a:pPr>
                <a:defRPr/>
              </a:pPr>
              <a:t>2019/6/18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4FDCA9-8C20-4B8A-BDE2-73BDC694D66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E1E881-7CB3-45CD-903D-DE3B15EB03F8}" type="datetimeFigureOut">
              <a:rPr lang="zh-CN" altLang="en-US"/>
              <a:pPr>
                <a:defRPr/>
              </a:pPr>
              <a:t>2019/6/18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A7F50E-51E6-4FFB-81BE-B5F6CB9AB01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76291D-789F-4809-9A62-25271BE756DD}" type="datetimeFigureOut">
              <a:rPr lang="zh-CN" altLang="en-US"/>
              <a:pPr>
                <a:defRPr/>
              </a:pPr>
              <a:t>2019/6/18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A6B7D6-D58E-4135-89ED-2B2650FD619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DE35D6-F742-40B8-BA85-EC9A9FEEABDA}" type="datetimeFigureOut">
              <a:rPr lang="zh-CN" altLang="en-US"/>
              <a:pPr>
                <a:defRPr/>
              </a:pPr>
              <a:t>2019/6/18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A91C4C-7357-475F-87F7-5520BB24353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FBA42A-EEBF-4C49-B5CD-40A4D52248D7}" type="datetimeFigureOut">
              <a:rPr lang="zh-CN" altLang="en-US"/>
              <a:pPr>
                <a:defRPr/>
              </a:pPr>
              <a:t>2019/6/18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555D38-FD77-48B6-A595-63DE8587A13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AC4BD0-56C1-458C-B6DF-AABAB34B245D}" type="datetimeFigureOut">
              <a:rPr lang="zh-CN" altLang="en-US"/>
              <a:pPr>
                <a:defRPr/>
              </a:pPr>
              <a:t>2019/6/18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C1D7BC-BCD8-4040-8470-E30005BEB82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6CB026-0F01-415F-B87A-E196B4C01A56}" type="datetimeFigureOut">
              <a:rPr lang="zh-CN" altLang="en-US"/>
              <a:pPr>
                <a:defRPr/>
              </a:pPr>
              <a:t>2019/6/18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07CF34-74CA-4FCE-8BE4-6D4C5586021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EEC40F0-AD3A-4682-9442-423CFA89126D}" type="datetimeFigureOut">
              <a:rPr lang="zh-CN" altLang="en-US"/>
              <a:pPr>
                <a:defRPr/>
              </a:pPr>
              <a:t>2019/6/18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541E2EE4-80A6-49F2-98A2-1FEF184F383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charset="-122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charset="-122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charset="-122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charset="-122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2671763"/>
            <a:ext cx="12192000" cy="1514475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7200" dirty="0">
                <a:latin typeface="黑体" panose="02010609060101010101" pitchFamily="49" charset="-122"/>
                <a:ea typeface="黑体" panose="02010609060101010101" pitchFamily="49" charset="-122"/>
              </a:rPr>
              <a:t>高</a:t>
            </a:r>
            <a:r>
              <a:rPr lang="zh-CN" altLang="en-US" sz="7200" dirty="0">
                <a:latin typeface="黑体" panose="02010609060101010101" pitchFamily="49" charset="-122"/>
                <a:ea typeface="黑体" panose="02010609060101010101" pitchFamily="49" charset="-122"/>
              </a:rPr>
              <a:t>精度算法</a:t>
            </a:r>
            <a:endParaRPr lang="zh-CN" altLang="en-US" sz="7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五边形 1"/>
          <p:cNvSpPr/>
          <p:nvPr/>
        </p:nvSpPr>
        <p:spPr>
          <a:xfrm>
            <a:off x="0" y="736600"/>
            <a:ext cx="3370263" cy="682625"/>
          </a:xfrm>
          <a:prstGeom prst="homePlat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高</a:t>
            </a: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精度计算</a:t>
            </a:r>
            <a:endParaRPr lang="zh-CN" altLang="en-US" sz="28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" name="文本框 2"/>
          <p:cNvSpPr txBox="1">
            <a:spLocks noChangeArrowheads="1"/>
          </p:cNvSpPr>
          <p:nvPr/>
        </p:nvSpPr>
        <p:spPr bwMode="auto">
          <a:xfrm>
            <a:off x="1685925" y="2743200"/>
            <a:ext cx="8897938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400">
                <a:latin typeface="华文楷体"/>
                <a:ea typeface="华文楷体"/>
                <a:cs typeface="华文楷体"/>
              </a:rPr>
              <a:t>数值计算时，有时会遇到计算精度要求特别高，远远超过计算机能达到的精度；有时要求数据特别大，超过数据类型定义范围的极限值。这时就需要进行</a:t>
            </a:r>
            <a:r>
              <a:rPr lang="zh-CN" altLang="en-US" sz="2400" b="1">
                <a:solidFill>
                  <a:srgbClr val="FF0000"/>
                </a:solidFill>
                <a:latin typeface="华文楷体"/>
                <a:ea typeface="华文楷体"/>
                <a:cs typeface="华文楷体"/>
              </a:rPr>
              <a:t>高精度计算</a:t>
            </a:r>
            <a:r>
              <a:rPr lang="zh-CN" altLang="en-US" sz="2400">
                <a:latin typeface="华文楷体"/>
                <a:ea typeface="华文楷体"/>
                <a:cs typeface="华文楷体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1" name="Picture 2"/>
          <p:cNvPicPr>
            <a:picLocks noChangeAspect="1" noChangeArrowheads="1"/>
          </p:cNvPicPr>
          <p:nvPr/>
        </p:nvPicPr>
        <p:blipFill>
          <a:blip r:embed="rId2"/>
          <a:srcRect l="-2" r="366" b="28194"/>
          <a:stretch>
            <a:fillRect/>
          </a:stretch>
        </p:blipFill>
        <p:spPr bwMode="auto">
          <a:xfrm>
            <a:off x="4064000" y="1916113"/>
            <a:ext cx="4262438" cy="2012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1606550" y="4425950"/>
            <a:ext cx="48847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zh-CN" altLang="en-US" sz="2400">
                <a:latin typeface="华文楷体"/>
                <a:ea typeface="华文楷体"/>
                <a:cs typeface="华文楷体"/>
              </a:rPr>
              <a:t>高精度计算需要处理两个问题：</a:t>
            </a: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1958975" y="5197475"/>
            <a:ext cx="326231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数据的接收和存储问题</a:t>
            </a:r>
          </a:p>
        </p:txBody>
      </p: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6491288" y="5197475"/>
            <a:ext cx="3570287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“进位”和“借位”问题</a:t>
            </a:r>
          </a:p>
        </p:txBody>
      </p:sp>
      <p:sp>
        <p:nvSpPr>
          <p:cNvPr id="8" name="五边形 7"/>
          <p:cNvSpPr/>
          <p:nvPr/>
        </p:nvSpPr>
        <p:spPr>
          <a:xfrm>
            <a:off x="0" y="736600"/>
            <a:ext cx="3370263" cy="682625"/>
          </a:xfrm>
          <a:prstGeom prst="homePlat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高</a:t>
            </a:r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精度计算（加法模拟）</a:t>
            </a:r>
            <a:endParaRPr lang="zh-CN" altLang="en-US" sz="20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5366" name="文本框 1"/>
          <p:cNvSpPr txBox="1">
            <a:spLocks noChangeArrowheads="1"/>
          </p:cNvSpPr>
          <p:nvPr/>
        </p:nvSpPr>
        <p:spPr bwMode="auto">
          <a:xfrm>
            <a:off x="8597900" y="2817813"/>
            <a:ext cx="3152775" cy="400050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2000">
                <a:solidFill>
                  <a:schemeClr val="bg1"/>
                </a:solidFill>
                <a:latin typeface="华文中宋"/>
                <a:ea typeface="华文中宋"/>
                <a:cs typeface="华文中宋"/>
              </a:rPr>
              <a:t>从低位到高位，按位计算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五边形 1"/>
          <p:cNvSpPr/>
          <p:nvPr/>
        </p:nvSpPr>
        <p:spPr>
          <a:xfrm>
            <a:off x="0" y="736600"/>
            <a:ext cx="3370263" cy="682625"/>
          </a:xfrm>
          <a:prstGeom prst="homePlat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数据的输入和存储</a:t>
            </a:r>
            <a:endParaRPr lang="zh-CN" altLang="en-US" sz="28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" name="文本框 2"/>
          <p:cNvSpPr txBox="1">
            <a:spLocks noChangeArrowheads="1"/>
          </p:cNvSpPr>
          <p:nvPr/>
        </p:nvSpPr>
        <p:spPr bwMode="auto">
          <a:xfrm>
            <a:off x="1155700" y="1709738"/>
            <a:ext cx="4767263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zh-CN" altLang="en-US" sz="2400">
                <a:latin typeface="华文楷体"/>
                <a:ea typeface="华文楷体"/>
                <a:cs typeface="华文楷体"/>
              </a:rPr>
              <a:t>思考：怎样输入一个很长的数？</a:t>
            </a:r>
          </a:p>
        </p:txBody>
      </p:sp>
      <p:sp>
        <p:nvSpPr>
          <p:cNvPr id="4" name="矩形 3"/>
          <p:cNvSpPr/>
          <p:nvPr/>
        </p:nvSpPr>
        <p:spPr>
          <a:xfrm>
            <a:off x="1582738" y="2347913"/>
            <a:ext cx="1679575" cy="504825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字符串</a:t>
            </a:r>
            <a:endParaRPr lang="zh-CN" altLang="en-US" sz="28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4087813" y="2357438"/>
            <a:ext cx="4135437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>
                <a:latin typeface="黑体" pitchFamily="49" charset="-122"/>
                <a:ea typeface="黑体" pitchFamily="49" charset="-122"/>
              </a:rPr>
              <a:t>string</a:t>
            </a:r>
            <a:r>
              <a:rPr lang="zh-CN" altLang="en-US">
                <a:latin typeface="黑体" pitchFamily="49" charset="-122"/>
                <a:ea typeface="黑体" pitchFamily="49" charset="-122"/>
              </a:rPr>
              <a:t>定义的数据不限制大小。</a:t>
            </a:r>
          </a:p>
        </p:txBody>
      </p:sp>
      <p:sp>
        <p:nvSpPr>
          <p:cNvPr id="6" name="文本框 5"/>
          <p:cNvSpPr txBox="1">
            <a:spLocks noChangeArrowheads="1"/>
          </p:cNvSpPr>
          <p:nvPr/>
        </p:nvSpPr>
        <p:spPr bwMode="auto">
          <a:xfrm>
            <a:off x="1155700" y="3376613"/>
            <a:ext cx="643255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zh-CN" altLang="en-US" sz="2400">
                <a:latin typeface="华文楷体"/>
                <a:ea typeface="华文楷体"/>
                <a:cs typeface="华文楷体"/>
              </a:rPr>
              <a:t>思考：怎样将字符串存储起来，方便计算？</a:t>
            </a:r>
          </a:p>
        </p:txBody>
      </p:sp>
      <p:sp>
        <p:nvSpPr>
          <p:cNvPr id="7" name="矩形 6"/>
          <p:cNvSpPr/>
          <p:nvPr/>
        </p:nvSpPr>
        <p:spPr>
          <a:xfrm>
            <a:off x="1582738" y="4325938"/>
            <a:ext cx="1679575" cy="504825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数组</a:t>
            </a:r>
            <a:endParaRPr lang="zh-CN" altLang="en-US" sz="28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8" name="文本框 7"/>
          <p:cNvSpPr txBox="1">
            <a:spLocks noChangeArrowheads="1"/>
          </p:cNvSpPr>
          <p:nvPr/>
        </p:nvSpPr>
        <p:spPr bwMode="auto">
          <a:xfrm>
            <a:off x="4087813" y="4460875"/>
            <a:ext cx="46323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>
                <a:latin typeface="黑体" pitchFamily="49" charset="-122"/>
                <a:ea typeface="黑体" pitchFamily="49" charset="-122"/>
              </a:rPr>
              <a:t>逆序存放，方便计算时从低位到高位计算。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00"/>
                            </p:stCondLst>
                            <p:childTnLst>
                              <p:par>
                                <p:cTn id="2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9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5" grpId="0"/>
      <p:bldP spid="6" grpId="0"/>
      <p:bldP spid="7" grpId="0" animBg="1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五边形 1"/>
          <p:cNvSpPr/>
          <p:nvPr/>
        </p:nvSpPr>
        <p:spPr>
          <a:xfrm>
            <a:off x="0" y="736600"/>
            <a:ext cx="3370263" cy="682625"/>
          </a:xfrm>
          <a:prstGeom prst="homePlat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数据的输入和存储</a:t>
            </a:r>
            <a:endParaRPr lang="zh-CN" altLang="en-US" sz="28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365375" y="2600325"/>
            <a:ext cx="7461250" cy="23082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>
                <a:latin typeface="+mn-lt"/>
                <a:ea typeface="+mn-ea"/>
              </a:rPr>
              <a:t>void init(int a[])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>
                <a:latin typeface="+mn-lt"/>
                <a:ea typeface="+mn-ea"/>
              </a:rPr>
              <a:t>{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>
                <a:latin typeface="+mn-lt"/>
                <a:ea typeface="+mn-ea"/>
              </a:rPr>
              <a:t>	string s;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>
                <a:latin typeface="+mn-lt"/>
                <a:ea typeface="+mn-ea"/>
              </a:rPr>
              <a:t>	cin&gt;&gt;s;     //读入字符串s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>
                <a:latin typeface="+mn-lt"/>
                <a:ea typeface="+mn-ea"/>
              </a:rPr>
              <a:t>	a[0]=s.length();  </a:t>
            </a:r>
            <a:r>
              <a:rPr lang="zh-CN" altLang="en-US" b="1" dirty="0">
                <a:solidFill>
                  <a:srgbClr val="00B050"/>
                </a:solidFill>
                <a:latin typeface="+mn-lt"/>
                <a:ea typeface="+mn-ea"/>
              </a:rPr>
              <a:t>//将s的位数存储在a[0]中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>
                <a:latin typeface="+mn-lt"/>
                <a:ea typeface="+mn-ea"/>
              </a:rPr>
              <a:t>	for(i=1;i&lt;=a[0];i++)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>
                <a:latin typeface="+mn-lt"/>
                <a:ea typeface="+mn-ea"/>
              </a:rPr>
              <a:t>	</a:t>
            </a:r>
            <a:r>
              <a:rPr lang="en-US" altLang="zh-CN" dirty="0">
                <a:latin typeface="+mn-lt"/>
                <a:ea typeface="+mn-ea"/>
              </a:rPr>
              <a:t>	</a:t>
            </a:r>
            <a:r>
              <a:rPr lang="zh-CN" altLang="en-US" dirty="0">
                <a:latin typeface="+mn-lt"/>
                <a:ea typeface="+mn-ea"/>
              </a:rPr>
              <a:t>a</a:t>
            </a:r>
            <a:r>
              <a:rPr lang="zh-CN" altLang="en-US" dirty="0">
                <a:latin typeface="+mn-lt"/>
                <a:ea typeface="+mn-ea"/>
              </a:rPr>
              <a:t>[i]=s[a[0]-i]-'0';//将s转换为数组a，并逆序存储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>
                <a:latin typeface="+mn-lt"/>
                <a:ea typeface="+mn-ea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五边形 1"/>
          <p:cNvSpPr/>
          <p:nvPr/>
        </p:nvSpPr>
        <p:spPr>
          <a:xfrm>
            <a:off x="0" y="736600"/>
            <a:ext cx="3370263" cy="682625"/>
          </a:xfrm>
          <a:prstGeom prst="homePlat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“进位”和“借位”</a:t>
            </a:r>
          </a:p>
        </p:txBody>
      </p:sp>
      <p:sp>
        <p:nvSpPr>
          <p:cNvPr id="18434" name="文本框 2"/>
          <p:cNvSpPr txBox="1">
            <a:spLocks noChangeArrowheads="1"/>
          </p:cNvSpPr>
          <p:nvPr/>
        </p:nvSpPr>
        <p:spPr bwMode="auto">
          <a:xfrm>
            <a:off x="1155700" y="1709738"/>
            <a:ext cx="277495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zh-CN" altLang="en-US" sz="2400">
                <a:latin typeface="华文楷体"/>
                <a:ea typeface="华文楷体"/>
                <a:cs typeface="华文楷体"/>
              </a:rPr>
              <a:t>加法计算：进位</a:t>
            </a:r>
          </a:p>
        </p:txBody>
      </p:sp>
      <p:sp>
        <p:nvSpPr>
          <p:cNvPr id="18435" name="文本框 3"/>
          <p:cNvSpPr txBox="1">
            <a:spLocks noChangeArrowheads="1"/>
          </p:cNvSpPr>
          <p:nvPr/>
        </p:nvSpPr>
        <p:spPr bwMode="auto">
          <a:xfrm>
            <a:off x="1665288" y="2401888"/>
            <a:ext cx="2265362" cy="1477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>
                <a:latin typeface="Calibri" pitchFamily="34" charset="0"/>
              </a:rPr>
              <a:t>c[i]=a[i]+b[i];</a:t>
            </a:r>
          </a:p>
          <a:p>
            <a:r>
              <a:rPr lang="en-US" altLang="zh-CN">
                <a:latin typeface="Calibri" pitchFamily="34" charset="0"/>
              </a:rPr>
              <a:t>if(c[i]&gt;=10){</a:t>
            </a:r>
          </a:p>
          <a:p>
            <a:r>
              <a:rPr lang="en-US" altLang="zh-CN">
                <a:latin typeface="Calibri" pitchFamily="34" charset="0"/>
              </a:rPr>
              <a:t>	c[i]%=10;</a:t>
            </a:r>
          </a:p>
          <a:p>
            <a:r>
              <a:rPr lang="en-US" altLang="zh-CN">
                <a:latin typeface="Calibri" pitchFamily="34" charset="0"/>
              </a:rPr>
              <a:t>	++c[i+1];</a:t>
            </a:r>
          </a:p>
          <a:p>
            <a:r>
              <a:rPr lang="en-US" altLang="zh-CN">
                <a:latin typeface="Calibri" pitchFamily="34" charset="0"/>
              </a:rPr>
              <a:t>}</a:t>
            </a:r>
            <a:endParaRPr lang="zh-CN" altLang="en-US">
              <a:latin typeface="Calibri" pitchFamily="34" charset="0"/>
            </a:endParaRPr>
          </a:p>
        </p:txBody>
      </p:sp>
      <p:sp>
        <p:nvSpPr>
          <p:cNvPr id="18436" name="文本框 4"/>
          <p:cNvSpPr txBox="1">
            <a:spLocks noChangeArrowheads="1"/>
          </p:cNvSpPr>
          <p:nvPr/>
        </p:nvSpPr>
        <p:spPr bwMode="auto">
          <a:xfrm>
            <a:off x="6931025" y="1709738"/>
            <a:ext cx="277495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zh-CN" altLang="en-US" sz="2400">
                <a:latin typeface="华文楷体"/>
                <a:ea typeface="华文楷体"/>
                <a:cs typeface="华文楷体"/>
              </a:rPr>
              <a:t>减法计算：借位</a:t>
            </a:r>
          </a:p>
        </p:txBody>
      </p:sp>
      <p:sp>
        <p:nvSpPr>
          <p:cNvPr id="18437" name="矩形 5"/>
          <p:cNvSpPr>
            <a:spLocks noChangeArrowheads="1"/>
          </p:cNvSpPr>
          <p:nvPr/>
        </p:nvSpPr>
        <p:spPr bwMode="auto">
          <a:xfrm>
            <a:off x="7442200" y="2401888"/>
            <a:ext cx="2479675" cy="1477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>
                <a:latin typeface="Calibri" pitchFamily="34" charset="0"/>
              </a:rPr>
              <a:t>if(a[i]&lt;b[i]){</a:t>
            </a:r>
          </a:p>
          <a:p>
            <a:r>
              <a:rPr lang="zh-CN" altLang="en-US">
                <a:latin typeface="Calibri" pitchFamily="34" charset="0"/>
              </a:rPr>
              <a:t>	--a[i+1];</a:t>
            </a:r>
          </a:p>
          <a:p>
            <a:r>
              <a:rPr lang="zh-CN" altLang="en-US">
                <a:latin typeface="Calibri" pitchFamily="34" charset="0"/>
              </a:rPr>
              <a:t>	a[i]+=10;</a:t>
            </a:r>
          </a:p>
          <a:p>
            <a:r>
              <a:rPr lang="zh-CN" altLang="en-US">
                <a:latin typeface="Calibri" pitchFamily="34" charset="0"/>
              </a:rPr>
              <a:t>}</a:t>
            </a:r>
          </a:p>
          <a:p>
            <a:r>
              <a:rPr lang="zh-CN" altLang="en-US">
                <a:latin typeface="Calibri" pitchFamily="34" charset="0"/>
              </a:rPr>
              <a:t>c[i]=a[i]-b[i];</a:t>
            </a:r>
          </a:p>
        </p:txBody>
      </p:sp>
      <p:sp>
        <p:nvSpPr>
          <p:cNvPr id="18438" name="文本框 6"/>
          <p:cNvSpPr txBox="1">
            <a:spLocks noChangeArrowheads="1"/>
          </p:cNvSpPr>
          <p:nvPr/>
        </p:nvSpPr>
        <p:spPr bwMode="auto">
          <a:xfrm>
            <a:off x="1155700" y="4110038"/>
            <a:ext cx="277495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zh-CN" altLang="en-US" sz="2400">
                <a:latin typeface="华文楷体"/>
                <a:ea typeface="华文楷体"/>
                <a:cs typeface="华文楷体"/>
              </a:rPr>
              <a:t>乘法计算：进位</a:t>
            </a:r>
          </a:p>
        </p:txBody>
      </p:sp>
      <p:sp>
        <p:nvSpPr>
          <p:cNvPr id="18439" name="矩形 7"/>
          <p:cNvSpPr>
            <a:spLocks noChangeArrowheads="1"/>
          </p:cNvSpPr>
          <p:nvPr/>
        </p:nvSpPr>
        <p:spPr bwMode="auto">
          <a:xfrm>
            <a:off x="1685925" y="4895850"/>
            <a:ext cx="2859088" cy="922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>
                <a:latin typeface="Calibri" pitchFamily="34" charset="0"/>
              </a:rPr>
              <a:t>c[i+j-1]=a[i]*b[</a:t>
            </a:r>
            <a:r>
              <a:rPr lang="en-US" altLang="zh-CN">
                <a:latin typeface="Calibri" pitchFamily="34" charset="0"/>
              </a:rPr>
              <a:t>j</a:t>
            </a:r>
            <a:r>
              <a:rPr lang="zh-CN" altLang="en-US">
                <a:latin typeface="Calibri" pitchFamily="34" charset="0"/>
              </a:rPr>
              <a:t>]+x+c[i+j-1];</a:t>
            </a:r>
          </a:p>
          <a:p>
            <a:r>
              <a:rPr lang="zh-CN" altLang="en-US">
                <a:latin typeface="Calibri" pitchFamily="34" charset="0"/>
              </a:rPr>
              <a:t>x=c[i+j</a:t>
            </a:r>
            <a:r>
              <a:rPr lang="en-US" altLang="zh-CN">
                <a:latin typeface="Calibri" pitchFamily="34" charset="0"/>
              </a:rPr>
              <a:t>-</a:t>
            </a:r>
            <a:r>
              <a:rPr lang="zh-CN" altLang="en-US">
                <a:latin typeface="Calibri" pitchFamily="34" charset="0"/>
              </a:rPr>
              <a:t>1]/10;</a:t>
            </a:r>
          </a:p>
          <a:p>
            <a:r>
              <a:rPr lang="zh-CN" altLang="en-US">
                <a:latin typeface="Calibri" pitchFamily="34" charset="0"/>
              </a:rPr>
              <a:t>c[i+j-1]%=10;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五边形 1"/>
          <p:cNvSpPr/>
          <p:nvPr/>
        </p:nvSpPr>
        <p:spPr>
          <a:xfrm>
            <a:off x="0" y="736600"/>
            <a:ext cx="3370263" cy="682625"/>
          </a:xfrm>
          <a:prstGeom prst="homePlat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例</a:t>
            </a:r>
            <a:r>
              <a: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1</a:t>
            </a: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、高精度加法。</a:t>
            </a:r>
            <a:endParaRPr lang="zh-CN" altLang="en-US" sz="28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5" name="矩形 2"/>
          <p:cNvSpPr>
            <a:spLocks noChangeArrowheads="1"/>
          </p:cNvSpPr>
          <p:nvPr/>
        </p:nvSpPr>
        <p:spPr bwMode="auto">
          <a:xfrm>
            <a:off x="889000" y="2066925"/>
            <a:ext cx="5675313" cy="3887788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auto">
              <a:lnSpc>
                <a:spcPts val="32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Pct val="80000"/>
              <a:defRPr/>
            </a:pP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</a:rPr>
              <a:t>【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问题描述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</a:rPr>
              <a:t>】</a:t>
            </a:r>
          </a:p>
          <a:p>
            <a:pPr fontAlgn="auto">
              <a:lnSpc>
                <a:spcPts val="32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Pct val="80000"/>
              <a:defRPr/>
            </a:pP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输入两个 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</a:rPr>
              <a:t>1000 </a:t>
            </a:r>
            <a:r>
              <a:rPr lang="zh-CN" altLang="en-US" dirty="0">
                <a:solidFill>
                  <a:srgbClr val="FF0000"/>
                </a:solidFill>
              </a:rPr>
              <a:t>位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以内的正整数，输出它们的和。</a:t>
            </a:r>
          </a:p>
          <a:p>
            <a:pPr fontAlgn="auto">
              <a:lnSpc>
                <a:spcPts val="32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Pct val="80000"/>
              <a:defRPr/>
            </a:pP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</a:rPr>
              <a:t>【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输入样例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</a:rPr>
              <a:t>】</a:t>
            </a:r>
          </a:p>
          <a:p>
            <a:pPr fontAlgn="auto">
              <a:lnSpc>
                <a:spcPts val="32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Pct val="80000"/>
              <a:defRPr/>
            </a:pP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</a:rPr>
              <a:t>123456789</a:t>
            </a:r>
          </a:p>
          <a:p>
            <a:pPr fontAlgn="auto">
              <a:lnSpc>
                <a:spcPts val="32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Pct val="80000"/>
              <a:defRPr/>
            </a:pP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</a:rPr>
              <a:t>987654321</a:t>
            </a:r>
          </a:p>
          <a:p>
            <a:pPr fontAlgn="auto">
              <a:lnSpc>
                <a:spcPts val="32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Pct val="80000"/>
              <a:defRPr/>
            </a:pP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</a:rPr>
              <a:t>【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输出样例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</a:rPr>
              <a:t>】</a:t>
            </a:r>
          </a:p>
          <a:p>
            <a:pPr fontAlgn="auto">
              <a:lnSpc>
                <a:spcPts val="32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Pct val="80000"/>
              <a:defRPr/>
            </a:pP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</a:rPr>
              <a:t>1111111110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7192963" y="1430338"/>
            <a:ext cx="4640262" cy="636587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、将两个正整数逆序存放在两个数组中</a:t>
            </a:r>
            <a:endParaRPr lang="zh-CN" altLang="en-US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192963" y="2463800"/>
            <a:ext cx="4789487" cy="63658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、计算并将结果存放在</a:t>
            </a: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c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数组中</a:t>
            </a: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(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逢</a:t>
            </a: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10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进</a:t>
            </a: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）</a:t>
            </a:r>
            <a:endParaRPr lang="zh-CN" altLang="en-US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192963" y="5954713"/>
            <a:ext cx="4640262" cy="6350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3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、逆序输出该数组。</a:t>
            </a:r>
            <a:endParaRPr lang="zh-CN" altLang="en-US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7192963" y="3298825"/>
          <a:ext cx="4591050" cy="823913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59171"/>
                <a:gridCol w="459171"/>
                <a:gridCol w="459171"/>
                <a:gridCol w="459171"/>
                <a:gridCol w="459171"/>
                <a:gridCol w="459171"/>
                <a:gridCol w="459171"/>
                <a:gridCol w="459171"/>
                <a:gridCol w="459171"/>
                <a:gridCol w="459171"/>
              </a:tblGrid>
              <a:tr h="27478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a[0]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a[1]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a[2]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a[3]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a[4]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a[5]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a[6]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a[7]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a[8]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a[9]</a:t>
                      </a:r>
                      <a:endParaRPr lang="zh-CN" altLang="en-US" sz="1400" dirty="0"/>
                    </a:p>
                  </a:txBody>
                  <a:tcPr/>
                </a:tc>
              </a:tr>
              <a:tr h="274788">
                <a:tc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9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8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7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6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5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4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3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2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7192963" y="4079875"/>
          <a:ext cx="4591050" cy="822325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59171"/>
                <a:gridCol w="459171"/>
                <a:gridCol w="459171"/>
                <a:gridCol w="459171"/>
                <a:gridCol w="459171"/>
                <a:gridCol w="459171"/>
                <a:gridCol w="459171"/>
                <a:gridCol w="459171"/>
                <a:gridCol w="459171"/>
                <a:gridCol w="459171"/>
              </a:tblGrid>
              <a:tr h="25318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b[0]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b[1]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b[2]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b[3]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b[4]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b[5]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b[6]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b[7]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b[8]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b[9]</a:t>
                      </a:r>
                      <a:endParaRPr lang="zh-CN" altLang="en-US" sz="1400" dirty="0"/>
                    </a:p>
                  </a:txBody>
                  <a:tcPr/>
                </a:tc>
              </a:tr>
              <a:tr h="253180">
                <a:tc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2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3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4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5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6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7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8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9</a:t>
                      </a:r>
                      <a:endParaRPr lang="zh-CN" altLang="en-US" sz="1400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741863" y="3751263"/>
            <a:ext cx="2136775" cy="147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7192963" y="4946650"/>
          <a:ext cx="4875212" cy="822325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  <a:gridCol w="556250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c[0]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c[1]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c[2]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c[3]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c[4]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c[5]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c[6]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c[7]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c[8]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c[9]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C[10]</a:t>
                      </a:r>
                      <a:endParaRPr lang="zh-CN" altLang="en-US" sz="1400" dirty="0"/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0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 animBg="1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五边形 1"/>
          <p:cNvSpPr/>
          <p:nvPr/>
        </p:nvSpPr>
        <p:spPr>
          <a:xfrm>
            <a:off x="0" y="736600"/>
            <a:ext cx="3370263" cy="682625"/>
          </a:xfrm>
          <a:prstGeom prst="homePlat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例</a:t>
            </a:r>
            <a:r>
              <a: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1</a:t>
            </a: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、高精度加法。</a:t>
            </a:r>
            <a:endParaRPr lang="zh-CN" altLang="en-US" sz="28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20482" name="图片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52563" y="1419225"/>
            <a:ext cx="4811712" cy="5381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矩形 3"/>
          <p:cNvSpPr/>
          <p:nvPr/>
        </p:nvSpPr>
        <p:spPr>
          <a:xfrm>
            <a:off x="1487488" y="4052888"/>
            <a:ext cx="4735512" cy="157003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五边形 1"/>
          <p:cNvSpPr/>
          <p:nvPr/>
        </p:nvSpPr>
        <p:spPr>
          <a:xfrm>
            <a:off x="0" y="736600"/>
            <a:ext cx="3370263" cy="682625"/>
          </a:xfrm>
          <a:prstGeom prst="homePlat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例</a:t>
            </a:r>
            <a:r>
              <a: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1</a:t>
            </a: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、高精度加法。</a:t>
            </a:r>
            <a:endParaRPr lang="zh-CN" altLang="en-US" sz="28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871663" y="3057525"/>
            <a:ext cx="8448675" cy="75088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kern="1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任务</a:t>
            </a:r>
            <a:r>
              <a:rPr lang="en-US" altLang="zh-CN" sz="2400" b="1" kern="1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1</a:t>
            </a:r>
            <a:r>
              <a:rPr lang="zh-CN" altLang="en-US" sz="2400" b="1" kern="1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：完成</a:t>
            </a:r>
            <a:r>
              <a:rPr lang="en-US" altLang="zh-CN" sz="2400" b="1" kern="1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OJ </a:t>
            </a:r>
            <a:r>
              <a:rPr lang="en-US" altLang="zh-CN" sz="2400" b="1" kern="1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1507</a:t>
            </a:r>
            <a:r>
              <a:rPr lang="zh-CN" altLang="en-US" sz="2400" b="1" kern="1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大</a:t>
            </a:r>
            <a:r>
              <a:rPr lang="zh-CN" altLang="en-US" sz="2400" b="1" kern="1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整数加法</a:t>
            </a:r>
            <a:r>
              <a:rPr lang="zh-CN" altLang="en-US" sz="2400" b="1" kern="1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、</a:t>
            </a:r>
            <a:r>
              <a:rPr lang="en-US" altLang="zh-CN" sz="2400" b="1" kern="1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OJ 2104</a:t>
            </a:r>
            <a:r>
              <a:rPr lang="zh-CN" altLang="en-US" sz="2400" b="1" kern="1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求</a:t>
            </a:r>
            <a:r>
              <a:rPr lang="en-US" altLang="zh-CN" sz="2400" b="1" kern="1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n</a:t>
            </a:r>
            <a:r>
              <a:rPr lang="zh-CN" altLang="en-US" sz="2400" b="1" kern="1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累加</a:t>
            </a:r>
            <a:r>
              <a:rPr lang="zh-CN" altLang="en-US" sz="2400" b="1" kern="1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和</a:t>
            </a:r>
            <a:endParaRPr lang="zh-CN" altLang="en-US" sz="2400" b="1" kern="100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五边形 1"/>
          <p:cNvSpPr/>
          <p:nvPr/>
        </p:nvSpPr>
        <p:spPr>
          <a:xfrm>
            <a:off x="0" y="736600"/>
            <a:ext cx="3370263" cy="682625"/>
          </a:xfrm>
          <a:prstGeom prst="homePlat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例</a:t>
            </a:r>
            <a:r>
              <a: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2</a:t>
            </a: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、高精度减法。</a:t>
            </a:r>
            <a:endParaRPr lang="zh-CN" altLang="en-US" sz="28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73100" y="2014538"/>
            <a:ext cx="6096000" cy="3887787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lnSpc>
                <a:spcPts val="32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Pct val="80000"/>
              <a:defRPr/>
            </a:pPr>
            <a:r>
              <a:rPr kumimoji="1" lang="en-US" altLang="zh-C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kumimoji="1"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问题描述</a:t>
            </a:r>
            <a:r>
              <a:rPr kumimoji="1" lang="en-US" altLang="zh-C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</a:p>
          <a:p>
            <a:pPr fontAlgn="auto">
              <a:lnSpc>
                <a:spcPts val="32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Pct val="80000"/>
              <a:defRPr/>
            </a:pPr>
            <a:r>
              <a:rPr kumimoji="1"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输入两个 </a:t>
            </a:r>
            <a:r>
              <a:rPr kumimoji="1" lang="en-US" altLang="zh-C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255 </a:t>
            </a:r>
            <a:r>
              <a:rPr kumimoji="1"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位</a:t>
            </a:r>
            <a:r>
              <a:rPr kumimoji="1"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以内的正整数，输出它们</a:t>
            </a:r>
            <a:r>
              <a:rPr kumimoji="1"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的差。</a:t>
            </a:r>
            <a:endParaRPr kumimoji="1" lang="zh-CN" altLang="en-US" sz="20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fontAlgn="auto">
              <a:lnSpc>
                <a:spcPts val="32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Pct val="80000"/>
              <a:defRPr/>
            </a:pPr>
            <a:r>
              <a:rPr kumimoji="1" lang="en-US" altLang="zh-C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kumimoji="1"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输入样例</a:t>
            </a:r>
            <a:r>
              <a:rPr kumimoji="1" lang="en-US" altLang="zh-C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</a:p>
          <a:p>
            <a:pPr fontAlgn="auto">
              <a:lnSpc>
                <a:spcPts val="32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Pct val="80000"/>
              <a:defRPr/>
            </a:pPr>
            <a:r>
              <a:rPr kumimoji="1" lang="en-US" altLang="zh-C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+mn-ea"/>
              </a:rPr>
              <a:t>987654321</a:t>
            </a:r>
            <a:endParaRPr kumimoji="1" lang="en-US" altLang="zh-CN" sz="20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+mn-ea"/>
            </a:endParaRPr>
          </a:p>
          <a:p>
            <a:pPr fontAlgn="auto">
              <a:lnSpc>
                <a:spcPts val="32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Pct val="80000"/>
              <a:defRPr/>
            </a:pPr>
            <a:r>
              <a:rPr kumimoji="1" lang="en-US" altLang="zh-C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+mn-ea"/>
              </a:rPr>
              <a:t>123456789</a:t>
            </a:r>
            <a:endParaRPr kumimoji="1" lang="en-US" altLang="zh-CN" sz="20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fontAlgn="auto">
              <a:lnSpc>
                <a:spcPts val="32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Pct val="80000"/>
              <a:defRPr/>
            </a:pPr>
            <a:r>
              <a:rPr kumimoji="1" lang="en-US" altLang="zh-C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kumimoji="1"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输出样例</a:t>
            </a:r>
            <a:r>
              <a:rPr kumimoji="1" lang="en-US" altLang="zh-C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</a:p>
          <a:p>
            <a:pPr fontAlgn="auto">
              <a:lnSpc>
                <a:spcPts val="32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Pct val="80000"/>
              <a:defRPr/>
            </a:pPr>
            <a:r>
              <a:rPr kumimoji="1" lang="en-US" altLang="zh-C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864197532</a:t>
            </a:r>
            <a:endParaRPr kumimoji="1" lang="en-US" altLang="zh-CN" sz="20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769100" y="1009650"/>
            <a:ext cx="4625975" cy="56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943350" y="4311650"/>
            <a:ext cx="2530475" cy="159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矩形 5"/>
          <p:cNvSpPr/>
          <p:nvPr/>
        </p:nvSpPr>
        <p:spPr>
          <a:xfrm>
            <a:off x="6769100" y="3711575"/>
            <a:ext cx="4872038" cy="167957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五边形 1"/>
          <p:cNvSpPr/>
          <p:nvPr/>
        </p:nvSpPr>
        <p:spPr>
          <a:xfrm>
            <a:off x="0" y="736600"/>
            <a:ext cx="3370263" cy="682625"/>
          </a:xfrm>
          <a:prstGeom prst="homePlat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例</a:t>
            </a:r>
            <a:r>
              <a: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2</a:t>
            </a: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、高精度减法。</a:t>
            </a:r>
            <a:endParaRPr lang="zh-CN" altLang="en-US" sz="28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87413" y="2497138"/>
            <a:ext cx="2265362" cy="165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6600" dirty="0">
                <a:solidFill>
                  <a:srgbClr val="FF0000"/>
                </a:solidFill>
                <a:latin typeface="Bodoni MT Black" panose="02070A03080606020203" pitchFamily="18" charset="0"/>
              </a:rPr>
              <a:t>?</a:t>
            </a:r>
            <a:endParaRPr lang="zh-CN" altLang="en-US" sz="16600" dirty="0">
              <a:solidFill>
                <a:srgbClr val="FF0000"/>
              </a:solidFill>
              <a:latin typeface="Bodoni MT Black" panose="02070A03080606020203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956175" y="1239838"/>
            <a:ext cx="6330950" cy="5618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矩形 4"/>
          <p:cNvSpPr/>
          <p:nvPr/>
        </p:nvSpPr>
        <p:spPr>
          <a:xfrm>
            <a:off x="4956175" y="3671888"/>
            <a:ext cx="6194425" cy="212883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五边形 1"/>
          <p:cNvSpPr/>
          <p:nvPr/>
        </p:nvSpPr>
        <p:spPr>
          <a:xfrm>
            <a:off x="0" y="736600"/>
            <a:ext cx="3370263" cy="682625"/>
          </a:xfrm>
          <a:prstGeom prst="homePlat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例</a:t>
            </a:r>
            <a:r>
              <a: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2</a:t>
            </a: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、高精度减法。</a:t>
            </a:r>
            <a:endParaRPr lang="zh-CN" altLang="en-US" sz="28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871663" y="3057525"/>
            <a:ext cx="8448675" cy="75088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kern="1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任务</a:t>
            </a:r>
            <a:r>
              <a:rPr lang="en-US" altLang="zh-CN" sz="2400" b="1" kern="1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2</a:t>
            </a:r>
            <a:r>
              <a:rPr lang="zh-CN" altLang="en-US" sz="2400" b="1" kern="1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：</a:t>
            </a:r>
            <a:r>
              <a:rPr lang="zh-CN" altLang="en-US" sz="2400" b="1" kern="1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完成</a:t>
            </a:r>
            <a:r>
              <a:rPr lang="en-US" altLang="zh-CN" sz="2400" b="1" kern="1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OJ 1510</a:t>
            </a:r>
            <a:r>
              <a:rPr lang="zh-CN" altLang="en-US" sz="2400" b="1" kern="1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大</a:t>
            </a:r>
            <a:r>
              <a:rPr lang="zh-CN" altLang="en-US" sz="2400" b="1" kern="1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整数减法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五边形 1"/>
          <p:cNvSpPr/>
          <p:nvPr/>
        </p:nvSpPr>
        <p:spPr>
          <a:xfrm>
            <a:off x="0" y="736600"/>
            <a:ext cx="3876675" cy="682625"/>
          </a:xfrm>
          <a:prstGeom prst="homePlat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例</a:t>
            </a:r>
            <a:r>
              <a: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3.1</a:t>
            </a: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、高精度</a:t>
            </a: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乘法</a:t>
            </a: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。</a:t>
            </a:r>
            <a:endParaRPr lang="zh-CN" altLang="en-US" sz="28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73100" y="2014538"/>
            <a:ext cx="6096000" cy="3887787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lnSpc>
                <a:spcPts val="32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Pct val="80000"/>
              <a:defRPr/>
            </a:pPr>
            <a:r>
              <a:rPr kumimoji="1" lang="en-US" altLang="zh-C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kumimoji="1"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问题描述</a:t>
            </a:r>
            <a:r>
              <a:rPr kumimoji="1" lang="en-US" altLang="zh-C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</a:p>
          <a:p>
            <a:pPr fontAlgn="auto">
              <a:lnSpc>
                <a:spcPts val="32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Pct val="80000"/>
              <a:defRPr/>
            </a:pPr>
            <a:r>
              <a:rPr kumimoji="1"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输入两个 </a:t>
            </a:r>
            <a:r>
              <a:rPr kumimoji="1" lang="en-US" altLang="zh-C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100 </a:t>
            </a:r>
            <a:r>
              <a:rPr kumimoji="1"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位</a:t>
            </a:r>
            <a:r>
              <a:rPr kumimoji="1"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以内的正整数，输出它们的乘积。</a:t>
            </a:r>
          </a:p>
          <a:p>
            <a:pPr fontAlgn="auto">
              <a:lnSpc>
                <a:spcPts val="32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Pct val="80000"/>
              <a:defRPr/>
            </a:pPr>
            <a:r>
              <a:rPr kumimoji="1" lang="en-US" altLang="zh-C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kumimoji="1"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输入样例</a:t>
            </a:r>
            <a:r>
              <a:rPr kumimoji="1" lang="en-US" altLang="zh-C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</a:p>
          <a:p>
            <a:pPr fontAlgn="auto">
              <a:lnSpc>
                <a:spcPts val="32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Pct val="80000"/>
              <a:defRPr/>
            </a:pPr>
            <a:r>
              <a:rPr kumimoji="1" lang="en-US" altLang="zh-C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123456789</a:t>
            </a:r>
          </a:p>
          <a:p>
            <a:pPr fontAlgn="auto">
              <a:lnSpc>
                <a:spcPts val="32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Pct val="80000"/>
              <a:defRPr/>
            </a:pPr>
            <a:r>
              <a:rPr kumimoji="1" lang="en-US" altLang="zh-C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987654321</a:t>
            </a:r>
          </a:p>
          <a:p>
            <a:pPr fontAlgn="auto">
              <a:lnSpc>
                <a:spcPts val="32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Pct val="80000"/>
              <a:defRPr/>
            </a:pPr>
            <a:r>
              <a:rPr kumimoji="1" lang="en-US" altLang="zh-C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kumimoji="1"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输出样例</a:t>
            </a:r>
            <a:r>
              <a:rPr kumimoji="1" lang="en-US" altLang="zh-C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</a:p>
          <a:p>
            <a:pPr fontAlgn="auto">
              <a:lnSpc>
                <a:spcPts val="32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Pct val="80000"/>
              <a:defRPr/>
            </a:pPr>
            <a:r>
              <a:rPr kumimoji="1" lang="en-US" altLang="zh-C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121932631112635269</a:t>
            </a:r>
          </a:p>
        </p:txBody>
      </p:sp>
      <p:sp>
        <p:nvSpPr>
          <p:cNvPr id="4" name="矩形 3"/>
          <p:cNvSpPr/>
          <p:nvPr/>
        </p:nvSpPr>
        <p:spPr>
          <a:xfrm>
            <a:off x="7192963" y="1430338"/>
            <a:ext cx="4640262" cy="636587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、将两个正整数逆序存放在两个数组中</a:t>
            </a:r>
            <a:endParaRPr lang="zh-CN" altLang="en-US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192963" y="2463800"/>
            <a:ext cx="4789487" cy="63658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、计算并将结果存放在</a:t>
            </a: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c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数组中</a:t>
            </a: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(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逢</a:t>
            </a: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10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进</a:t>
            </a: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）</a:t>
            </a:r>
            <a:endParaRPr lang="zh-CN" altLang="en-US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192963" y="5954713"/>
            <a:ext cx="4640262" cy="6350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3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、逆序输出该数组。</a:t>
            </a:r>
            <a:endParaRPr lang="zh-CN" altLang="en-US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7192963" y="3298825"/>
          <a:ext cx="4591050" cy="823913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59171"/>
                <a:gridCol w="459171"/>
                <a:gridCol w="459171"/>
                <a:gridCol w="459171"/>
                <a:gridCol w="459171"/>
                <a:gridCol w="459171"/>
                <a:gridCol w="459171"/>
                <a:gridCol w="459171"/>
                <a:gridCol w="459171"/>
                <a:gridCol w="459171"/>
              </a:tblGrid>
              <a:tr h="27478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a[0]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a[1]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a[2]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a[3]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a[4]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a[5]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a[6]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a[7]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a[8]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a[9]</a:t>
                      </a:r>
                      <a:endParaRPr lang="zh-CN" altLang="en-US" sz="1400" dirty="0"/>
                    </a:p>
                  </a:txBody>
                  <a:tcPr/>
                </a:tc>
              </a:tr>
              <a:tr h="274788">
                <a:tc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9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8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7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6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5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4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3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2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7192963" y="4079875"/>
          <a:ext cx="4591050" cy="822325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59171"/>
                <a:gridCol w="459171"/>
                <a:gridCol w="459171"/>
                <a:gridCol w="459171"/>
                <a:gridCol w="459171"/>
                <a:gridCol w="459171"/>
                <a:gridCol w="459171"/>
                <a:gridCol w="459171"/>
                <a:gridCol w="459171"/>
                <a:gridCol w="459171"/>
              </a:tblGrid>
              <a:tr h="25318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b[0]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b[1]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b[2]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b[3]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b[4]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b[5]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b[6]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b[7]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b[8]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b[9]</a:t>
                      </a:r>
                      <a:endParaRPr lang="zh-CN" altLang="en-US" sz="1400" dirty="0"/>
                    </a:p>
                  </a:txBody>
                  <a:tcPr/>
                </a:tc>
              </a:tr>
              <a:tr h="253180">
                <a:tc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2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3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4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5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6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7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8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9</a:t>
                      </a:r>
                      <a:endParaRPr lang="zh-CN" altLang="en-US" sz="14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7192963" y="4946650"/>
          <a:ext cx="4875212" cy="822325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  <a:gridCol w="556250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c[0]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c[1]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c[2]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c[3]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c[4]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c[5]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c[6]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c[7]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c[8]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c[9]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……</a:t>
                      </a:r>
                      <a:endParaRPr lang="zh-CN" altLang="en-US" sz="1400" dirty="0"/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9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6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2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5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3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6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2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……</a:t>
                      </a:r>
                      <a:endParaRPr lang="zh-CN" altLang="en-US" sz="1400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25714" name="图片 1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067175" y="3576638"/>
            <a:ext cx="2913063" cy="1042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5" grpId="0" animBg="1"/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22263" y="1755775"/>
            <a:ext cx="6096000" cy="1246188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80000"/>
              <a:defRPr/>
            </a:pPr>
            <a:r>
              <a:rPr kumimoji="1"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模拟“竖式”乘法的过程，用一个数的每一位</a:t>
            </a:r>
            <a:r>
              <a:rPr kumimoji="1" lang="en-US" altLang="zh-C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a[</a:t>
            </a:r>
            <a:r>
              <a:rPr kumimoji="1" lang="en-US" altLang="zh-CN" sz="20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kumimoji="1" lang="en-US" altLang="zh-C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] (</a:t>
            </a:r>
            <a:r>
              <a:rPr kumimoji="1"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从低位开始</a:t>
            </a:r>
            <a:r>
              <a:rPr kumimoji="1" lang="en-US" altLang="zh-C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kumimoji="1"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逐位与另一个数的每一位 </a:t>
            </a:r>
            <a:r>
              <a:rPr kumimoji="1" lang="en-US" altLang="zh-C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b[j] </a:t>
            </a:r>
            <a:r>
              <a:rPr kumimoji="1"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相乘，结果存储到 </a:t>
            </a:r>
            <a:r>
              <a:rPr kumimoji="1" lang="en-US" altLang="zh-C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c[</a:t>
            </a:r>
            <a:r>
              <a:rPr kumimoji="1" lang="en-US" altLang="zh-CN" sz="20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i+j</a:t>
            </a:r>
            <a:r>
              <a:rPr kumimoji="1" lang="en-US" altLang="zh-C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] </a:t>
            </a:r>
            <a:r>
              <a:rPr kumimoji="1"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位，同时处理好进位。</a:t>
            </a:r>
          </a:p>
        </p:txBody>
      </p:sp>
      <p:sp>
        <p:nvSpPr>
          <p:cNvPr id="6" name="五边形 5"/>
          <p:cNvSpPr/>
          <p:nvPr/>
        </p:nvSpPr>
        <p:spPr>
          <a:xfrm>
            <a:off x="0" y="736600"/>
            <a:ext cx="3876675" cy="682625"/>
          </a:xfrm>
          <a:prstGeom prst="homePlat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例</a:t>
            </a:r>
            <a:r>
              <a: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3.1</a:t>
            </a: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、高精度</a:t>
            </a: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乘法</a:t>
            </a: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。</a:t>
            </a:r>
            <a:endParaRPr lang="zh-CN" altLang="en-US" sz="28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26627" name="图片 8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2263" y="3482975"/>
            <a:ext cx="3940175" cy="284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矩形 10"/>
          <p:cNvSpPr/>
          <p:nvPr/>
        </p:nvSpPr>
        <p:spPr>
          <a:xfrm>
            <a:off x="7458075" y="992188"/>
            <a:ext cx="3883025" cy="6334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分解：将乘法算式分解成乘数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分别乘以乘数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各个数位上的数之和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458075" y="2108200"/>
            <a:ext cx="3883025" cy="6318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、分别计算得到对应结果，注意进位处理。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458075" y="3138488"/>
            <a:ext cx="3883025" cy="6318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、将计算得到的结果相加，注意对应数位。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458075" y="4121150"/>
            <a:ext cx="3883025" cy="6318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、得到相应乘法计算结果。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032500" y="5087938"/>
            <a:ext cx="1131888" cy="6651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500" dirty="0">
                <a:solidFill>
                  <a:srgbClr val="FF0000"/>
                </a:solidFill>
                <a:latin typeface="Bodoni MT Black" panose="02070A03080606020203" pitchFamily="18" charset="0"/>
              </a:rPr>
              <a:t>?</a:t>
            </a:r>
            <a:endParaRPr lang="zh-CN" altLang="en-US" sz="11500" dirty="0">
              <a:solidFill>
                <a:srgbClr val="FF0000"/>
              </a:solidFill>
              <a:latin typeface="Bodoni MT Black" panose="02070A03080606020203" pitchFamily="18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7597775" y="5467350"/>
            <a:ext cx="3603625" cy="5730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最高位结果保存</a:t>
            </a:r>
            <a:endParaRPr lang="zh-CN" altLang="en-US" sz="2400" dirty="0">
              <a:solidFill>
                <a:srgbClr val="FF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26634" name="图片 1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03725" y="3219450"/>
            <a:ext cx="2913063" cy="1042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49" name="图片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89325" y="1419225"/>
            <a:ext cx="4384675" cy="5349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五边形 4"/>
          <p:cNvSpPr/>
          <p:nvPr/>
        </p:nvSpPr>
        <p:spPr>
          <a:xfrm>
            <a:off x="0" y="736600"/>
            <a:ext cx="3876675" cy="682625"/>
          </a:xfrm>
          <a:prstGeom prst="homePlat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例</a:t>
            </a:r>
            <a:r>
              <a: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3.1</a:t>
            </a: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、高精度</a:t>
            </a: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乘法</a:t>
            </a: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。</a:t>
            </a:r>
            <a:endParaRPr lang="zh-CN" altLang="en-US" sz="28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489325" y="3821113"/>
            <a:ext cx="4849813" cy="167957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五边形 3"/>
          <p:cNvSpPr/>
          <p:nvPr/>
        </p:nvSpPr>
        <p:spPr>
          <a:xfrm>
            <a:off x="0" y="736600"/>
            <a:ext cx="3876675" cy="682625"/>
          </a:xfrm>
          <a:prstGeom prst="homePlat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例</a:t>
            </a:r>
            <a:r>
              <a: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3.2</a:t>
            </a: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、</a:t>
            </a:r>
            <a:r>
              <a: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n! </a:t>
            </a: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的精确值</a:t>
            </a:r>
          </a:p>
        </p:txBody>
      </p:sp>
      <p:sp>
        <p:nvSpPr>
          <p:cNvPr id="5" name="矩形 2"/>
          <p:cNvSpPr>
            <a:spLocks noChangeArrowheads="1"/>
          </p:cNvSpPr>
          <p:nvPr/>
        </p:nvSpPr>
        <p:spPr bwMode="auto">
          <a:xfrm>
            <a:off x="1203325" y="1892300"/>
            <a:ext cx="6958013" cy="41052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auto">
              <a:lnSpc>
                <a:spcPts val="32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Pct val="80000"/>
              <a:defRPr/>
            </a:pP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</a:rPr>
              <a:t>【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问题描述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</a:rPr>
              <a:t>】</a:t>
            </a:r>
          </a:p>
          <a:p>
            <a:pPr fontAlgn="auto">
              <a:lnSpc>
                <a:spcPts val="32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Pct val="80000"/>
              <a:defRPr/>
            </a:pP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输入 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</a:rPr>
              <a:t>n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，输出 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</a:rPr>
              <a:t>n! 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的精确值，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</a:rPr>
              <a:t>n!=</a:t>
            </a:r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1×2×3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</a:rPr>
              <a:t>×…×n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，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</a:rPr>
              <a:t>1&lt;n&lt;1000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。</a:t>
            </a:r>
            <a:endParaRPr lang="en-US" altLang="zh-CN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fontAlgn="auto">
              <a:lnSpc>
                <a:spcPts val="32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Pct val="80000"/>
              <a:defRPr/>
            </a:pP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</a:rPr>
              <a:t>【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输入样例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</a:rPr>
              <a:t>】</a:t>
            </a:r>
          </a:p>
          <a:p>
            <a:pPr fontAlgn="auto">
              <a:lnSpc>
                <a:spcPts val="32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Pct val="80000"/>
              <a:defRPr/>
            </a:pP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</a:rPr>
              <a:t>100</a:t>
            </a:r>
          </a:p>
          <a:p>
            <a:pPr fontAlgn="auto">
              <a:lnSpc>
                <a:spcPts val="32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Pct val="80000"/>
              <a:defRPr/>
            </a:pP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</a:rPr>
              <a:t>【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输出样例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</a:rPr>
              <a:t>】</a:t>
            </a:r>
          </a:p>
          <a:p>
            <a:pPr fontAlgn="auto">
              <a:lnSpc>
                <a:spcPts val="32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Pct val="80000"/>
              <a:defRPr/>
            </a:pP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</a:rPr>
              <a:t>93326215443944152681699238856266700490715968264381621468592963895217599993229915608941463976156518286253697920827223758251185210916864000000000000000000000000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五边形 3"/>
          <p:cNvSpPr/>
          <p:nvPr/>
        </p:nvSpPr>
        <p:spPr>
          <a:xfrm>
            <a:off x="0" y="736600"/>
            <a:ext cx="3876675" cy="682625"/>
          </a:xfrm>
          <a:prstGeom prst="homePlat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例</a:t>
            </a:r>
            <a:r>
              <a: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3.2</a:t>
            </a: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、</a:t>
            </a:r>
            <a:r>
              <a: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n! </a:t>
            </a: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的精确值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431800" y="1765300"/>
          <a:ext cx="4227513" cy="7413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898"/>
                <a:gridCol w="603898"/>
                <a:gridCol w="603898"/>
                <a:gridCol w="603898"/>
                <a:gridCol w="603898"/>
                <a:gridCol w="603898"/>
                <a:gridCol w="603898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a[1]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a[2]</a:t>
                      </a:r>
                      <a:endParaRPr lang="zh-CN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a[3]</a:t>
                      </a:r>
                      <a:endParaRPr lang="zh-CN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a[4]</a:t>
                      </a:r>
                      <a:endParaRPr lang="zh-CN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a[5]</a:t>
                      </a:r>
                      <a:endParaRPr lang="zh-CN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a[6]</a:t>
                      </a:r>
                      <a:endParaRPr lang="zh-CN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a[7]</a:t>
                      </a:r>
                      <a:endParaRPr lang="zh-CN" altLang="en-US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420688" y="2667000"/>
          <a:ext cx="4216400" cy="765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2343"/>
                <a:gridCol w="602343"/>
                <a:gridCol w="602343"/>
                <a:gridCol w="602343"/>
                <a:gridCol w="602343"/>
                <a:gridCol w="602343"/>
                <a:gridCol w="602343"/>
              </a:tblGrid>
              <a:tr h="39382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a[1]</a:t>
                      </a:r>
                      <a:endParaRPr lang="zh-CN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a[2]</a:t>
                      </a:r>
                      <a:endParaRPr lang="zh-CN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a[3]</a:t>
                      </a:r>
                      <a:endParaRPr lang="zh-CN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a[4]</a:t>
                      </a:r>
                      <a:endParaRPr lang="zh-CN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a[5]</a:t>
                      </a:r>
                      <a:endParaRPr lang="zh-CN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a[6]</a:t>
                      </a:r>
                      <a:endParaRPr lang="zh-CN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a[7]</a:t>
                      </a:r>
                      <a:endParaRPr lang="zh-CN" altLang="en-US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398463" y="3603625"/>
          <a:ext cx="4260850" cy="742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8563"/>
                <a:gridCol w="608563"/>
                <a:gridCol w="608563"/>
                <a:gridCol w="608563"/>
                <a:gridCol w="608563"/>
                <a:gridCol w="608563"/>
                <a:gridCol w="608563"/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a[1]</a:t>
                      </a:r>
                      <a:endParaRPr lang="zh-CN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a[2]</a:t>
                      </a:r>
                      <a:endParaRPr lang="zh-CN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a[3]</a:t>
                      </a:r>
                      <a:endParaRPr lang="zh-CN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a[4]</a:t>
                      </a:r>
                      <a:endParaRPr lang="zh-CN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a[5]</a:t>
                      </a:r>
                      <a:endParaRPr lang="zh-CN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a[6]</a:t>
                      </a:r>
                      <a:endParaRPr lang="zh-CN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a[7]</a:t>
                      </a:r>
                      <a:endParaRPr lang="zh-CN" altLang="en-US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398463" y="4508500"/>
          <a:ext cx="4260850" cy="7413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8564"/>
                <a:gridCol w="608564"/>
                <a:gridCol w="608564"/>
                <a:gridCol w="608564"/>
                <a:gridCol w="608564"/>
                <a:gridCol w="608564"/>
                <a:gridCol w="608564"/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a[1]</a:t>
                      </a:r>
                      <a:endParaRPr lang="zh-CN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a[2]</a:t>
                      </a:r>
                      <a:endParaRPr lang="zh-CN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a[3]</a:t>
                      </a:r>
                      <a:endParaRPr lang="zh-CN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a[4]</a:t>
                      </a:r>
                      <a:endParaRPr lang="zh-CN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a[5]</a:t>
                      </a:r>
                      <a:endParaRPr lang="zh-CN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a[6]</a:t>
                      </a:r>
                      <a:endParaRPr lang="zh-CN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a[7]</a:t>
                      </a:r>
                      <a:endParaRPr lang="zh-CN" altLang="en-US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388938" y="5400675"/>
          <a:ext cx="4259262" cy="7413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8564"/>
                <a:gridCol w="608564"/>
                <a:gridCol w="608564"/>
                <a:gridCol w="608564"/>
                <a:gridCol w="608564"/>
                <a:gridCol w="608564"/>
                <a:gridCol w="608564"/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a[1]</a:t>
                      </a:r>
                      <a:endParaRPr lang="zh-CN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a[2]</a:t>
                      </a:r>
                      <a:endParaRPr lang="zh-CN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a[3]</a:t>
                      </a:r>
                      <a:endParaRPr lang="zh-CN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a[4]</a:t>
                      </a:r>
                      <a:endParaRPr lang="zh-CN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a[5]</a:t>
                      </a:r>
                      <a:endParaRPr lang="zh-CN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a[6]</a:t>
                      </a:r>
                      <a:endParaRPr lang="zh-CN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a[7]</a:t>
                      </a:r>
                      <a:endParaRPr lang="zh-CN" altLang="en-US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6059488" y="1743075"/>
          <a:ext cx="4260850" cy="7413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8564"/>
                <a:gridCol w="608564"/>
                <a:gridCol w="608564"/>
                <a:gridCol w="608564"/>
                <a:gridCol w="608564"/>
                <a:gridCol w="608564"/>
                <a:gridCol w="608564"/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a[1]</a:t>
                      </a:r>
                      <a:endParaRPr lang="zh-CN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a[2]</a:t>
                      </a:r>
                      <a:endParaRPr lang="zh-CN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a[3]</a:t>
                      </a:r>
                      <a:endParaRPr lang="zh-CN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a[4]</a:t>
                      </a:r>
                      <a:endParaRPr lang="zh-CN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a[5]</a:t>
                      </a:r>
                      <a:endParaRPr lang="zh-CN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a[6]</a:t>
                      </a:r>
                      <a:endParaRPr lang="zh-CN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a[7]</a:t>
                      </a:r>
                      <a:endParaRPr lang="zh-CN" altLang="en-US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6059488" y="2646363"/>
          <a:ext cx="4260850" cy="7413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8564"/>
                <a:gridCol w="608564"/>
                <a:gridCol w="608564"/>
                <a:gridCol w="608564"/>
                <a:gridCol w="608564"/>
                <a:gridCol w="608564"/>
                <a:gridCol w="608564"/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a[1]</a:t>
                      </a:r>
                      <a:endParaRPr lang="zh-CN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a[2]</a:t>
                      </a:r>
                      <a:endParaRPr lang="zh-CN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a[3]</a:t>
                      </a:r>
                      <a:endParaRPr lang="zh-CN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a[4]</a:t>
                      </a:r>
                      <a:endParaRPr lang="zh-CN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a[5]</a:t>
                      </a:r>
                      <a:endParaRPr lang="zh-CN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a[6]</a:t>
                      </a:r>
                      <a:endParaRPr lang="zh-CN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a[7]</a:t>
                      </a:r>
                      <a:endParaRPr lang="zh-CN" altLang="en-US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6059488" y="3603625"/>
          <a:ext cx="4260850" cy="742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8564"/>
                <a:gridCol w="608564"/>
                <a:gridCol w="608564"/>
                <a:gridCol w="608564"/>
                <a:gridCol w="608564"/>
                <a:gridCol w="608564"/>
                <a:gridCol w="608564"/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a[1]</a:t>
                      </a:r>
                      <a:endParaRPr lang="zh-CN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a[2]</a:t>
                      </a:r>
                      <a:endParaRPr lang="zh-CN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a[3]</a:t>
                      </a:r>
                      <a:endParaRPr lang="zh-CN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a[4]</a:t>
                      </a:r>
                      <a:endParaRPr lang="zh-CN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a[5]</a:t>
                      </a:r>
                      <a:endParaRPr lang="zh-CN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a[6]</a:t>
                      </a:r>
                      <a:endParaRPr lang="zh-CN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a[7]</a:t>
                      </a:r>
                      <a:endParaRPr lang="zh-CN" altLang="en-US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6059488" y="4551363"/>
          <a:ext cx="4260850" cy="7413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8564"/>
                <a:gridCol w="608564"/>
                <a:gridCol w="608564"/>
                <a:gridCol w="608564"/>
                <a:gridCol w="608564"/>
                <a:gridCol w="608564"/>
                <a:gridCol w="608564"/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a[1]</a:t>
                      </a:r>
                      <a:endParaRPr lang="zh-CN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a[2]</a:t>
                      </a:r>
                      <a:endParaRPr lang="zh-CN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a[3]</a:t>
                      </a:r>
                      <a:endParaRPr lang="zh-CN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a[4]</a:t>
                      </a:r>
                      <a:endParaRPr lang="zh-CN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a[5]</a:t>
                      </a:r>
                      <a:endParaRPr lang="zh-CN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a[6]</a:t>
                      </a:r>
                      <a:endParaRPr lang="zh-CN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a[7]</a:t>
                      </a:r>
                      <a:endParaRPr lang="zh-CN" altLang="en-US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矩形 12"/>
          <p:cNvSpPr/>
          <p:nvPr/>
        </p:nvSpPr>
        <p:spPr>
          <a:xfrm>
            <a:off x="4843463" y="2003425"/>
            <a:ext cx="531812" cy="3698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</a:rPr>
              <a:t>×1</a:t>
            </a:r>
            <a:endParaRPr lang="zh-CN" altLang="en-US" b="1" dirty="0">
              <a:latin typeface="+mn-lt"/>
              <a:ea typeface="+mn-ea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4843463" y="2787650"/>
            <a:ext cx="53340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</a:rPr>
              <a:t>×2</a:t>
            </a:r>
            <a:endParaRPr lang="zh-CN" altLang="en-US" b="1" dirty="0">
              <a:latin typeface="+mn-lt"/>
              <a:ea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808538" y="3713163"/>
            <a:ext cx="534987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</a:rPr>
              <a:t>×3</a:t>
            </a:r>
            <a:endParaRPr lang="zh-CN" altLang="en-US" b="1" dirty="0">
              <a:latin typeface="+mn-lt"/>
              <a:ea typeface="+mn-ea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4843463" y="4637088"/>
            <a:ext cx="533400" cy="369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</a:rPr>
              <a:t>×4</a:t>
            </a:r>
            <a:endParaRPr lang="zh-CN" altLang="en-US" b="1" dirty="0">
              <a:latin typeface="+mn-lt"/>
              <a:ea typeface="+mn-ea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0569575" y="2046288"/>
            <a:ext cx="533400" cy="369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</a:rPr>
              <a:t>×5</a:t>
            </a:r>
            <a:endParaRPr lang="zh-CN" altLang="en-US" b="1" dirty="0">
              <a:latin typeface="+mn-lt"/>
              <a:ea typeface="+mn-ea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0536238" y="4637088"/>
            <a:ext cx="533400" cy="369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</a:rPr>
              <a:t>×6</a:t>
            </a:r>
            <a:endParaRPr lang="zh-CN" altLang="en-US" b="1" dirty="0">
              <a:latin typeface="+mn-lt"/>
              <a:ea typeface="+mn-ea"/>
            </a:endParaRPr>
          </a:p>
        </p:txBody>
      </p:sp>
      <p:graphicFrame>
        <p:nvGraphicFramePr>
          <p:cNvPr id="19" name="表格 18"/>
          <p:cNvGraphicFramePr>
            <a:graphicFrameLocks noGrp="1"/>
          </p:cNvGraphicFramePr>
          <p:nvPr/>
        </p:nvGraphicFramePr>
        <p:xfrm>
          <a:off x="6070600" y="5454650"/>
          <a:ext cx="4259263" cy="7413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8564"/>
                <a:gridCol w="608564"/>
                <a:gridCol w="608564"/>
                <a:gridCol w="608564"/>
                <a:gridCol w="608564"/>
                <a:gridCol w="608564"/>
                <a:gridCol w="608564"/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a[1]</a:t>
                      </a:r>
                      <a:endParaRPr lang="zh-CN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a[2]</a:t>
                      </a:r>
                      <a:endParaRPr lang="zh-CN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a[3]</a:t>
                      </a:r>
                      <a:endParaRPr lang="zh-CN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a[4]</a:t>
                      </a:r>
                      <a:endParaRPr lang="zh-CN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a[5]</a:t>
                      </a:r>
                      <a:endParaRPr lang="zh-CN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a[6]</a:t>
                      </a:r>
                      <a:endParaRPr lang="zh-CN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a[7]</a:t>
                      </a:r>
                      <a:endParaRPr lang="zh-CN" altLang="en-US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五边形 3"/>
          <p:cNvSpPr/>
          <p:nvPr/>
        </p:nvSpPr>
        <p:spPr>
          <a:xfrm>
            <a:off x="0" y="736600"/>
            <a:ext cx="3876675" cy="682625"/>
          </a:xfrm>
          <a:prstGeom prst="homePlat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例</a:t>
            </a:r>
            <a:r>
              <a: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3.2</a:t>
            </a: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、</a:t>
            </a:r>
            <a:r>
              <a: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n! </a:t>
            </a: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的精确值</a:t>
            </a:r>
          </a:p>
        </p:txBody>
      </p:sp>
      <p:pic>
        <p:nvPicPr>
          <p:cNvPr id="30722" name="图片 1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98763" y="1716088"/>
            <a:ext cx="6686550" cy="4506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矩形 2"/>
          <p:cNvSpPr/>
          <p:nvPr/>
        </p:nvSpPr>
        <p:spPr>
          <a:xfrm>
            <a:off x="2798763" y="2700338"/>
            <a:ext cx="5343525" cy="255746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871663" y="3057525"/>
            <a:ext cx="8623300" cy="96837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kern="1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任务</a:t>
            </a:r>
            <a:r>
              <a:rPr lang="en-US" altLang="zh-CN" sz="2400" b="1" kern="1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3</a:t>
            </a:r>
            <a:r>
              <a:rPr lang="zh-CN" altLang="en-US" sz="2400" b="1" kern="1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：</a:t>
            </a:r>
            <a:r>
              <a:rPr lang="zh-CN" altLang="en-US" sz="2400" b="1" kern="1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完成</a:t>
            </a:r>
            <a:r>
              <a:rPr lang="en-US" altLang="zh-CN" sz="2400" b="1" kern="1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OJ 1508</a:t>
            </a:r>
            <a:r>
              <a:rPr lang="zh-CN" altLang="en-US" sz="2400" b="1" kern="1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计算</a:t>
            </a:r>
            <a:r>
              <a:rPr lang="en-US" altLang="zh-CN" sz="2400" b="1" kern="1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2</a:t>
            </a:r>
            <a:r>
              <a:rPr lang="zh-CN" altLang="en-US" sz="2400" b="1" kern="1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</a:t>
            </a:r>
            <a:r>
              <a:rPr lang="en-US" altLang="zh-CN" sz="2400" b="1" kern="1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N</a:t>
            </a:r>
            <a:r>
              <a:rPr lang="zh-CN" altLang="en-US" sz="2400" b="1" kern="1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次</a:t>
            </a:r>
            <a:r>
              <a:rPr lang="zh-CN" altLang="en-US" sz="2400" b="1" kern="1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方、</a:t>
            </a:r>
            <a:r>
              <a:rPr lang="en-US" altLang="zh-CN" sz="2400" b="1" kern="1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OJ2110</a:t>
            </a:r>
            <a:r>
              <a:rPr lang="zh-CN" altLang="en-US" sz="2400" b="1" kern="1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大</a:t>
            </a:r>
            <a:r>
              <a:rPr lang="zh-CN" altLang="en-US" sz="2400" b="1" kern="1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整数</a:t>
            </a:r>
            <a:r>
              <a:rPr lang="zh-CN" altLang="en-US" sz="2400" b="1" kern="1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乘法。</a:t>
            </a:r>
            <a:endParaRPr lang="zh-CN" altLang="en-US" sz="2400" b="1" kern="100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4" name="五边形 3"/>
          <p:cNvSpPr/>
          <p:nvPr/>
        </p:nvSpPr>
        <p:spPr>
          <a:xfrm>
            <a:off x="0" y="736600"/>
            <a:ext cx="3876675" cy="682625"/>
          </a:xfrm>
          <a:prstGeom prst="homePlat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例</a:t>
            </a:r>
            <a:r>
              <a: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3</a:t>
            </a: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、高精度</a:t>
            </a: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乘法</a:t>
            </a: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。</a:t>
            </a:r>
            <a:endParaRPr lang="zh-CN" altLang="en-US" sz="28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五边形 1"/>
          <p:cNvSpPr/>
          <p:nvPr/>
        </p:nvSpPr>
        <p:spPr>
          <a:xfrm>
            <a:off x="0" y="736600"/>
            <a:ext cx="4040188" cy="682625"/>
          </a:xfrm>
          <a:prstGeom prst="homePlat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例</a:t>
            </a:r>
            <a:r>
              <a: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4.1</a:t>
            </a: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、高精除以单精。</a:t>
            </a:r>
            <a:endParaRPr lang="zh-CN" altLang="en-US" sz="28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47713" y="1787525"/>
            <a:ext cx="7359650" cy="4524375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80000"/>
              <a:defRPr/>
            </a:pPr>
            <a:r>
              <a:rPr kumimoji="1" lang="en-US" altLang="zh-CN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kumimoji="1" lang="zh-CN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问题描述</a:t>
            </a:r>
            <a:r>
              <a:rPr kumimoji="1" lang="en-US" altLang="zh-CN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80000"/>
              <a:defRPr/>
            </a:pPr>
            <a:r>
              <a:rPr kumimoji="1" lang="zh-CN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输入两个正整数，求它们的商（做整除）</a:t>
            </a:r>
            <a:r>
              <a:rPr kumimoji="1" lang="zh-CN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kumimoji="1" lang="zh-CN" altLang="zh-CN" sz="16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kumimoji="1" lang="zh-CN" altLang="zh-CN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输入</a:t>
            </a:r>
            <a:r>
              <a:rPr kumimoji="1" lang="en-US" altLang="zh-CN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endParaRPr kumimoji="1" lang="zh-CN" altLang="zh-CN" sz="16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1" ea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zh-CN" altLang="zh-CN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两行，第一行表示被除数a（a为不超过200位的非负整数，可能有多余的前导0），</a:t>
            </a:r>
            <a:r>
              <a:rPr kumimoji="1" lang="zh-CN" altLang="zh-CN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第二行表示</a:t>
            </a:r>
            <a:r>
              <a:rPr kumimoji="1" lang="zh-CN" altLang="zh-CN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除数b（b在int范围内）。</a:t>
            </a:r>
          </a:p>
          <a:p>
            <a:pPr ea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kumimoji="1" lang="zh-CN" altLang="zh-CN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输出</a:t>
            </a:r>
            <a:r>
              <a:rPr kumimoji="1" lang="en-US" altLang="zh-CN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endParaRPr kumimoji="1" lang="zh-CN" altLang="zh-CN" sz="16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1" indent="-457200" ea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zh-CN" altLang="zh-CN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一行，即相除后的商。（做整除运算</a:t>
            </a:r>
            <a:r>
              <a:rPr kumimoji="1" lang="zh-CN" altLang="zh-CN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endParaRPr kumimoji="1" lang="en-US" altLang="zh-CN" sz="16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80000"/>
              <a:defRPr/>
            </a:pPr>
            <a:r>
              <a:rPr kumimoji="1" lang="en-US" altLang="zh-CN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kumimoji="1" lang="zh-CN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输入样例</a:t>
            </a:r>
            <a:r>
              <a:rPr kumimoji="1" lang="en-US" altLang="zh-CN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80000"/>
              <a:defRPr/>
            </a:pPr>
            <a:r>
              <a:rPr kumimoji="1" lang="zh-CN" altLang="zh-CN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45451312458489785</a:t>
            </a:r>
            <a:endParaRPr kumimoji="1" lang="en-US" altLang="zh-CN" sz="16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80000"/>
              <a:defRPr/>
            </a:pPr>
            <a:r>
              <a:rPr kumimoji="1" lang="en-US" altLang="zh-CN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45598</a:t>
            </a:r>
            <a:r>
              <a:rPr kumimoji="1" lang="zh-CN" altLang="zh-CN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kumimoji="1" lang="en-US" altLang="zh-CN" sz="16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80000"/>
              <a:defRPr/>
            </a:pPr>
            <a:r>
              <a:rPr kumimoji="1" lang="en-US" altLang="zh-CN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kumimoji="1" lang="zh-CN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输出样例</a:t>
            </a:r>
            <a:r>
              <a:rPr kumimoji="1" lang="en-US" altLang="zh-CN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80000"/>
              <a:defRPr/>
            </a:pPr>
            <a:r>
              <a:rPr kumimoji="1" lang="en-US" altLang="zh-CN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+mn-ea"/>
              </a:rPr>
              <a:t>996783026854</a:t>
            </a:r>
            <a:endParaRPr kumimoji="1" lang="zh-CN" altLang="en-US" sz="16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五边形 1"/>
          <p:cNvSpPr/>
          <p:nvPr/>
        </p:nvSpPr>
        <p:spPr>
          <a:xfrm>
            <a:off x="0" y="736600"/>
            <a:ext cx="4040188" cy="682625"/>
          </a:xfrm>
          <a:prstGeom prst="homePlat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例</a:t>
            </a:r>
            <a:r>
              <a: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4.1</a:t>
            </a: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、高精除以单精。</a:t>
            </a:r>
            <a:endParaRPr lang="zh-CN" altLang="en-US" sz="28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33794" name="图片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03550" y="1651000"/>
            <a:ext cx="5448300" cy="483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矩形 2"/>
          <p:cNvSpPr/>
          <p:nvPr/>
        </p:nvSpPr>
        <p:spPr>
          <a:xfrm>
            <a:off x="3003550" y="4300538"/>
            <a:ext cx="3614738" cy="10763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五边形 1"/>
          <p:cNvSpPr/>
          <p:nvPr/>
        </p:nvSpPr>
        <p:spPr>
          <a:xfrm>
            <a:off x="0" y="736600"/>
            <a:ext cx="4040188" cy="682625"/>
          </a:xfrm>
          <a:prstGeom prst="homePlat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例</a:t>
            </a:r>
            <a:r>
              <a: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4.2</a:t>
            </a: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、</a:t>
            </a:r>
            <a:r>
              <a: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n/m </a:t>
            </a: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的精确值。</a:t>
            </a:r>
          </a:p>
        </p:txBody>
      </p:sp>
      <p:sp>
        <p:nvSpPr>
          <p:cNvPr id="3" name="矩形 2"/>
          <p:cNvSpPr/>
          <p:nvPr/>
        </p:nvSpPr>
        <p:spPr>
          <a:xfrm>
            <a:off x="720725" y="1916113"/>
            <a:ext cx="7019925" cy="4144962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lnSpc>
                <a:spcPts val="32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Pct val="80000"/>
              <a:defRPr/>
            </a:pPr>
            <a:r>
              <a:rPr kumimoji="1" lang="en-US" altLang="zh-C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kumimoji="1"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问题描述</a:t>
            </a:r>
            <a:r>
              <a:rPr kumimoji="1" lang="en-US" altLang="zh-C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</a:p>
          <a:p>
            <a:pPr fontAlgn="auto">
              <a:lnSpc>
                <a:spcPts val="32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Pct val="80000"/>
              <a:defRPr/>
            </a:pPr>
            <a:r>
              <a:rPr kumimoji="1"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输入</a:t>
            </a:r>
            <a:r>
              <a:rPr kumimoji="1" lang="en-US" altLang="zh-C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kumimoji="1" lang="en-US" altLang="zh-C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kumimoji="1"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，输出</a:t>
            </a:r>
            <a:r>
              <a:rPr kumimoji="1" lang="en-US" altLang="zh-C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除以</a:t>
            </a:r>
            <a:r>
              <a:rPr kumimoji="1" lang="en-US" altLang="zh-C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kumimoji="1"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的精确值。假设</a:t>
            </a:r>
            <a:r>
              <a:rPr kumimoji="1" lang="en-US" altLang="zh-C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kumimoji="1" lang="en-US" altLang="zh-C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kumimoji="1"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在</a:t>
            </a:r>
            <a:r>
              <a:rPr kumimoji="1" lang="en-US" altLang="zh-CN" sz="20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int</a:t>
            </a:r>
            <a:r>
              <a:rPr kumimoji="1"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范围以内，结果精确到小数点后</a:t>
            </a:r>
            <a:r>
              <a:rPr kumimoji="1"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100</a:t>
            </a:r>
            <a:r>
              <a:rPr kumimoji="1"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位</a:t>
            </a:r>
            <a:r>
              <a:rPr kumimoji="1"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  <a:p>
            <a:pPr fontAlgn="auto">
              <a:lnSpc>
                <a:spcPts val="32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Pct val="80000"/>
              <a:defRPr/>
            </a:pPr>
            <a:r>
              <a:rPr kumimoji="1" lang="en-US" altLang="zh-C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kumimoji="1"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输入样例</a:t>
            </a:r>
            <a:r>
              <a:rPr kumimoji="1" lang="en-US" altLang="zh-C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</a:p>
          <a:p>
            <a:pPr fontAlgn="auto">
              <a:lnSpc>
                <a:spcPts val="32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Pct val="80000"/>
              <a:defRPr/>
            </a:pPr>
            <a:r>
              <a:rPr kumimoji="1" lang="en-US" altLang="zh-C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355 113</a:t>
            </a:r>
          </a:p>
          <a:p>
            <a:pPr fontAlgn="auto">
              <a:lnSpc>
                <a:spcPts val="32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Pct val="80000"/>
              <a:defRPr/>
            </a:pPr>
            <a:r>
              <a:rPr kumimoji="1" lang="en-US" altLang="zh-C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kumimoji="1"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输出样例</a:t>
            </a:r>
            <a:r>
              <a:rPr kumimoji="1" lang="en-US" altLang="zh-C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</a:p>
          <a:p>
            <a:pPr fontAlgn="auto">
              <a:lnSpc>
                <a:spcPts val="32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Pct val="80000"/>
              <a:defRPr/>
            </a:pPr>
            <a:r>
              <a:rPr kumimoji="1" lang="en-US" altLang="zh-C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3.1415929203539823008849557522123893805309734513274336283185840707964601769911504424778761061946902654</a:t>
            </a:r>
            <a:endParaRPr kumimoji="1" lang="zh-CN" altLang="en-US" sz="20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1" name="Picture 2"/>
          <p:cNvPicPr>
            <a:picLocks noChangeAspect="1" noChangeArrowheads="1"/>
          </p:cNvPicPr>
          <p:nvPr/>
        </p:nvPicPr>
        <p:blipFill>
          <a:blip r:embed="rId2"/>
          <a:srcRect r="21" b="21100"/>
          <a:stretch>
            <a:fillRect/>
          </a:stretch>
        </p:blipFill>
        <p:spPr bwMode="auto">
          <a:xfrm>
            <a:off x="1093788" y="2689225"/>
            <a:ext cx="3670300" cy="2608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矩形 4"/>
          <p:cNvSpPr/>
          <p:nvPr/>
        </p:nvSpPr>
        <p:spPr>
          <a:xfrm>
            <a:off x="846161" y="1760561"/>
            <a:ext cx="1241945" cy="58685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342900" indent="-342900" algn="ctr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u"/>
              <a:defRPr/>
            </a:pPr>
            <a:r>
              <a:rPr kumimoji="1" lang="zh-CN" altLang="en-US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分析：</a:t>
            </a:r>
          </a:p>
        </p:txBody>
      </p:sp>
      <p:sp>
        <p:nvSpPr>
          <p:cNvPr id="6" name="矩形 5"/>
          <p:cNvSpPr/>
          <p:nvPr/>
        </p:nvSpPr>
        <p:spPr>
          <a:xfrm>
            <a:off x="5791200" y="2689225"/>
            <a:ext cx="5659438" cy="2605088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lnSpc>
                <a:spcPts val="32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Pct val="80000"/>
              <a:defRPr/>
            </a:pPr>
            <a:r>
              <a:rPr kumimoji="1"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模拟数学中的“短除法”。由数学知识可知，除法运算中被除数、除数和商、余数的关系为：</a:t>
            </a:r>
          </a:p>
          <a:p>
            <a:pPr fontAlgn="auto">
              <a:lnSpc>
                <a:spcPts val="32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Pct val="80000"/>
              <a:defRPr/>
            </a:pPr>
            <a:r>
              <a:rPr kumimoji="1"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新的被除数 </a:t>
            </a:r>
            <a:r>
              <a:rPr kumimoji="1"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 10× </a:t>
            </a:r>
            <a:r>
              <a:rPr kumimoji="1"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余数</a:t>
            </a:r>
          </a:p>
          <a:p>
            <a:pPr fontAlgn="auto">
              <a:lnSpc>
                <a:spcPts val="32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Pct val="80000"/>
              <a:defRPr/>
            </a:pPr>
            <a:r>
              <a:rPr kumimoji="1"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商 </a:t>
            </a:r>
            <a:r>
              <a:rPr kumimoji="1"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 </a:t>
            </a:r>
            <a:r>
              <a:rPr kumimoji="1"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被除数／除数</a:t>
            </a:r>
          </a:p>
          <a:p>
            <a:pPr fontAlgn="auto">
              <a:lnSpc>
                <a:spcPts val="32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Pct val="80000"/>
              <a:defRPr/>
            </a:pPr>
            <a:r>
              <a:rPr kumimoji="1"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余数 </a:t>
            </a:r>
            <a:r>
              <a:rPr kumimoji="1"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 </a:t>
            </a:r>
            <a:r>
              <a:rPr kumimoji="1"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被除数 </a:t>
            </a:r>
            <a:r>
              <a:rPr kumimoji="1"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% </a:t>
            </a:r>
            <a:r>
              <a:rPr kumimoji="1"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除数</a:t>
            </a:r>
          </a:p>
        </p:txBody>
      </p:sp>
      <p:sp>
        <p:nvSpPr>
          <p:cNvPr id="7" name="五边形 6"/>
          <p:cNvSpPr/>
          <p:nvPr/>
        </p:nvSpPr>
        <p:spPr>
          <a:xfrm>
            <a:off x="0" y="736600"/>
            <a:ext cx="4040188" cy="682625"/>
          </a:xfrm>
          <a:prstGeom prst="homePlat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例</a:t>
            </a:r>
            <a:r>
              <a: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4.2</a:t>
            </a: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、</a:t>
            </a:r>
            <a:r>
              <a: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n/m </a:t>
            </a: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的精确值。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五边形 6"/>
          <p:cNvSpPr/>
          <p:nvPr/>
        </p:nvSpPr>
        <p:spPr>
          <a:xfrm>
            <a:off x="0" y="736600"/>
            <a:ext cx="4040188" cy="682625"/>
          </a:xfrm>
          <a:prstGeom prst="homePlat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例</a:t>
            </a:r>
            <a:r>
              <a: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4.2</a:t>
            </a: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、</a:t>
            </a:r>
            <a:r>
              <a: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n/m </a:t>
            </a: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的精确值。</a:t>
            </a:r>
          </a:p>
        </p:txBody>
      </p:sp>
      <p:pic>
        <p:nvPicPr>
          <p:cNvPr id="36866" name="图片 1" descr="屏幕剪辑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135438" y="1747838"/>
            <a:ext cx="4005262" cy="4937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五边形 1"/>
          <p:cNvSpPr/>
          <p:nvPr/>
        </p:nvSpPr>
        <p:spPr>
          <a:xfrm>
            <a:off x="0" y="736600"/>
            <a:ext cx="4040188" cy="682625"/>
          </a:xfrm>
          <a:prstGeom prst="homePlat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例</a:t>
            </a:r>
            <a:r>
              <a: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4</a:t>
            </a: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、高精度除法</a:t>
            </a:r>
            <a:endParaRPr lang="zh-CN" altLang="en-US" sz="28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871663" y="3057525"/>
            <a:ext cx="8448675" cy="111918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kern="1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任务</a:t>
            </a:r>
            <a:r>
              <a:rPr lang="en-US" altLang="zh-CN" sz="2400" b="1" kern="1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4</a:t>
            </a:r>
            <a:r>
              <a:rPr lang="zh-CN" altLang="en-US" sz="2400" b="1" kern="1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：完成</a:t>
            </a:r>
            <a:r>
              <a:rPr lang="en-US" altLang="zh-CN" sz="2400" b="1" kern="1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OJ 2103</a:t>
            </a:r>
            <a:r>
              <a:rPr lang="zh-CN" altLang="en-US" sz="2400" b="1" kern="1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求</a:t>
            </a:r>
            <a:r>
              <a:rPr lang="en-US" altLang="zh-CN" sz="2400" b="1" kern="1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A/B</a:t>
            </a:r>
            <a:r>
              <a:rPr lang="zh-CN" altLang="en-US" sz="2400" b="1" kern="1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高精度值、</a:t>
            </a:r>
            <a:r>
              <a:rPr lang="en-US" altLang="zh-CN" sz="2400" b="1" kern="1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2107</a:t>
            </a:r>
            <a:r>
              <a:rPr lang="zh-CN" altLang="en-US" sz="2400" b="1" kern="1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大</a:t>
            </a:r>
            <a:r>
              <a:rPr lang="zh-CN" altLang="en-US" sz="2400" b="1" kern="1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整数除法（高精除以单精</a:t>
            </a:r>
            <a:r>
              <a:rPr lang="zh-CN" altLang="en-US" sz="2400" b="1" kern="1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）</a:t>
            </a:r>
            <a:endParaRPr lang="zh-CN" altLang="en-US" sz="2400" b="1" kern="100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1215</TotalTime>
  <Words>1324</Words>
  <Application>Microsoft Office PowerPoint</Application>
  <PresentationFormat>自定义</PresentationFormat>
  <Paragraphs>391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演示文稿设计模板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6" baseType="lpstr">
      <vt:lpstr>Calibri</vt:lpstr>
      <vt:lpstr>宋体</vt:lpstr>
      <vt:lpstr>Arial</vt:lpstr>
      <vt:lpstr>Calibri Light</vt:lpstr>
      <vt:lpstr>黑体</vt:lpstr>
      <vt:lpstr>华文中宋</vt:lpstr>
      <vt:lpstr>华文楷体</vt:lpstr>
      <vt:lpstr>Wingdings</vt:lpstr>
      <vt:lpstr>Times New Roman</vt:lpstr>
      <vt:lpstr>Bodoni MT Black</vt:lpstr>
      <vt:lpstr>Office 主题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  <vt:lpstr>幻灯片 14</vt:lpstr>
      <vt:lpstr>幻灯片 15</vt:lpstr>
      <vt:lpstr>幻灯片 16</vt:lpstr>
      <vt:lpstr>幻灯片 17</vt:lpstr>
      <vt:lpstr>幻灯片 18</vt:lpstr>
      <vt:lpstr>幻灯片 19</vt:lpstr>
      <vt:lpstr>幻灯片 20</vt:lpstr>
      <vt:lpstr>幻灯片 21</vt:lpstr>
      <vt:lpstr>幻灯片 22</vt:lpstr>
      <vt:lpstr>幻灯片 23</vt:lpstr>
      <vt:lpstr>幻灯片 24</vt:lpstr>
      <vt:lpstr>幻灯片 25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3Dprint</dc:creator>
  <cp:lastModifiedBy>Windows 用户</cp:lastModifiedBy>
  <cp:revision>72</cp:revision>
  <dcterms:created xsi:type="dcterms:W3CDTF">2019-05-10T03:40:38Z</dcterms:created>
  <dcterms:modified xsi:type="dcterms:W3CDTF">2019-06-18T10:33:56Z</dcterms:modified>
</cp:coreProperties>
</file>